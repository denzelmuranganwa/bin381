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401131-9D74-4AC3-A632-C1DFD7F3715B}">
  <a:tblStyle styleId="{59401131-9D74-4AC3-A632-C1DFD7F371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589" y="2867800"/>
            <a:ext cx="113604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589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028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589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49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5838" y="-167"/>
            <a:ext cx="6095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3991" y="1644233"/>
            <a:ext cx="53934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3991" y="3737433"/>
            <a:ext cx="53934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5824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589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589" y="1474833"/>
            <a:ext cx="113604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589" y="4202967"/>
            <a:ext cx="113604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22960" y="1463040"/>
            <a:ext cx="105156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Unemployment and Labour Market Exclusion in South Africa </a:t>
            </a:r>
            <a:endParaRPr b="1" sz="4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is hit hardest by unemployment, and where should the support go first?</a:t>
            </a:r>
            <a:endParaRPr i="1" sz="100"/>
          </a:p>
        </p:txBody>
      </p:sp>
      <p:sp>
        <p:nvSpPr>
          <p:cNvPr id="57" name="Google Shape;57;p13"/>
          <p:cNvSpPr txBox="1"/>
          <p:nvPr/>
        </p:nvSpPr>
        <p:spPr>
          <a:xfrm>
            <a:off x="822960" y="3383280"/>
            <a:ext cx="10515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FDDEC"/>
                </a:solidFill>
                <a:latin typeface="Calibri"/>
                <a:ea typeface="Calibri"/>
                <a:cs typeface="Calibri"/>
                <a:sym typeface="Calibri"/>
              </a:rPr>
              <a:t>Socioeconomic Development and Household Well-being (SDHSA)  |  </a:t>
            </a:r>
            <a:r>
              <a:rPr lang="en-US" sz="2000">
                <a:solidFill>
                  <a:srgbClr val="CFDDEC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000" u="none" cap="none" strike="noStrike">
                <a:solidFill>
                  <a:srgbClr val="CFDDEC"/>
                </a:solidFill>
                <a:latin typeface="Calibri"/>
                <a:ea typeface="Calibri"/>
                <a:cs typeface="Calibri"/>
                <a:sym typeface="Calibri"/>
              </a:rPr>
              <a:t>resentation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822960" y="4572000"/>
            <a:ext cx="1051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Denzel Takunda Muranganwa  |  Goitsemang Baloyi  |  Noliyolo Mamello Khotseng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Intelligence 381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One national rate hides who is affected, so DEL cannot target support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Business problem and the five objectives we set in Milestone 1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548640" y="1828800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Client: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Department of Employment and Labour and provincial development departments.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Official rate 31.9% to 33.5% in 2024, about 8.2 million unemployed, but very uneven across groups and places.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How well can demographic, regional and education indicators predict unemployment risk, and which matter most?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Method: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CRISP-DM, from business understanding to a deployed tool.</a:t>
            </a:r>
            <a:endParaRPr/>
          </a:p>
        </p:txBody>
      </p:sp>
      <p:graphicFrame>
        <p:nvGraphicFramePr>
          <p:cNvPr id="68" name="Google Shape;68;p14"/>
          <p:cNvGraphicFramePr/>
          <p:nvPr/>
        </p:nvGraphicFramePr>
        <p:xfrm>
          <a:off x="59436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{59401131-9D74-4AC3-A632-C1DFD7F3715B}</a:tableStyleId>
              </a:tblPr>
              <a:tblGrid>
                <a:gridCol w="3108950"/>
                <a:gridCol w="26517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Objective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Groups by age and gender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Provinces vs national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Education and unemployment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Sectors, formal/informal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m</a:t>
                      </a:r>
                      <a:r>
                        <a:rPr lang="en-US"/>
                        <a:t>odelled, employed-only fields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Clear reporting for users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and app built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14"/>
          <p:cNvSpPr/>
          <p:nvPr/>
        </p:nvSpPr>
        <p:spPr>
          <a:xfrm>
            <a:off x="5943600" y="457200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AF1F8"/>
          </a:solidFill>
          <a:ln cap="flat" cmpd="sng" w="1587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943600" y="466344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&lt; 0.1 pt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6035040" y="5285232"/>
            <a:ext cx="16459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our rate vs Stats SA, every quarter</a:t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7955279" y="4572000"/>
            <a:ext cx="1828800" cy="1371600"/>
          </a:xfrm>
          <a:prstGeom prst="roundRect">
            <a:avLst>
              <a:gd fmla="val 8000" name="adj"/>
            </a:avLst>
          </a:prstGeom>
          <a:solidFill>
            <a:srgbClr val="EAF1F8"/>
          </a:solidFill>
          <a:ln cap="flat" cmpd="sng" w="1587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7955279" y="466344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170,377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8046719" y="5285232"/>
            <a:ext cx="16459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person-quarter records</a:t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9966960" y="4572000"/>
            <a:ext cx="1737360" cy="1371600"/>
          </a:xfrm>
          <a:prstGeom prst="roundRect">
            <a:avLst>
              <a:gd fmla="val 8000" name="adj"/>
            </a:avLst>
          </a:prstGeom>
          <a:solidFill>
            <a:srgbClr val="EAF1F8"/>
          </a:solidFill>
          <a:ln cap="flat" cmpd="sng" w="15875">
            <a:solidFill>
              <a:srgbClr val="D55E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9966960" y="466344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55E00"/>
                </a:solidFill>
                <a:latin typeface="Calibri"/>
                <a:ea typeface="Calibri"/>
                <a:cs typeface="Calibri"/>
                <a:sym typeface="Calibri"/>
              </a:rPr>
              <a:t>AUC 0.787</a:t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10058400" y="5285232"/>
            <a:ext cx="15544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80% recall at 0.20</a:t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We tested the join, it failed, so we built two parallel tracks</a:t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Data sources and integration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548640" y="1828800"/>
            <a:ext cx="53949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11 files inspected, 4 used.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Household files on dwellings, services, energy, connectivity and transport excluded: no link to labour status.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Track A: D11 only.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Four 2024 quarters, ages 15 to 64. Feeds the models, the weighted analysis and the dashboard.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Track B: D01 + D02 + D03.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Inner join: 45,326 rows before, 45,322 after. First quarter only. Descriptive context.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Why separate: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0 of 45,326 person keys in D01 appear in D11, although 938 of 1,037 area codes overlap. Merging would invent data.</a:t>
            </a:r>
            <a:endParaRPr/>
          </a:p>
        </p:txBody>
      </p:sp>
      <p:graphicFrame>
        <p:nvGraphicFramePr>
          <p:cNvPr id="89" name="Google Shape;89;p15"/>
          <p:cNvGraphicFramePr/>
          <p:nvPr/>
        </p:nvGraphicFramePr>
        <p:xfrm>
          <a:off x="621792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{59401131-9D74-4AC3-A632-C1DFD7F3715B}</a:tableStyleId>
              </a:tblPr>
              <a:tblGrid>
                <a:gridCol w="1737350"/>
                <a:gridCol w="1280150"/>
                <a:gridCol w="1280150"/>
                <a:gridCol w="11887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rows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Cleaned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Removed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D01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70,440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45,326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25,114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D02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70,462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70,440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D03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70,460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70,440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D11 (Track A)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170,432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170,377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5"/>
          <p:cNvSpPr txBox="1"/>
          <p:nvPr/>
        </p:nvSpPr>
        <p:spPr>
          <a:xfrm>
            <a:off x="6217920" y="4297680"/>
            <a:ext cx="5486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Track A status mix: Employed 38.4%, Unemployed 18.8%, Other inactive 34.9%, Discouraged 7.9%.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A join that returns zero matches is a finding, not a failure.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Each cleaning decision was checked: problem, treatment, effect, verification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Data cleaning and preprocessing</a:t>
            </a:r>
            <a:endParaRPr/>
          </a:p>
        </p:txBody>
      </p:sp>
      <p:graphicFrame>
        <p:nvGraphicFramePr>
          <p:cNvPr id="101" name="Google Shape;101;p16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{59401131-9D74-4AC3-A632-C1DFD7F3715B}</a:tableStyleId>
              </a:tblPr>
              <a:tblGrid>
                <a:gridCol w="4206250"/>
                <a:gridCol w="4206250"/>
                <a:gridCol w="27432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did in R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18-digit IDs lost digits when read as numbers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 IDs as text; key = household + person + year + quarter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duplicate keys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1.8e308 used for "not applicable" (up to 87% of some columns)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Recode all values above 1e300 to missing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of sentinels is 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 spellings of 9 provinces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 and standardise before encoding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province dummies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Outcome-derived and employed-only fields (occupation, industry, earnings, hours, informal)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Dropped before modelling, with identifiers and weights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Leakage list; recipe fitted on training data only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18.8% of records unemployed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Stratified 70/30 split (seed 2026); thresholds tuned, nothing discarded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share equal in train and test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16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We followed CRISP-DM and compared three models, judged on more than accuracy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Analysis and modelling methodology</a:t>
            </a:r>
            <a:endParaRPr/>
          </a:p>
        </p:txBody>
      </p:sp>
      <p:pic>
        <p:nvPicPr>
          <p:cNvPr descr="team_roc.png"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28800"/>
            <a:ext cx="3498829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am_imp.png" id="113" name="Google Shape;1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1828800"/>
            <a:ext cx="310896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am_figA.png" id="114" name="Google Shape;11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8079" y="1828800"/>
            <a:ext cx="4363452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548640" y="4663440"/>
            <a:ext cx="5486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Task: </a:t>
            </a:r>
            <a:r>
              <a:rPr b="0" i="0" lang="en-US" sz="15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is a person unemployed (1) or not (0)? 18.8% are.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Models: </a:t>
            </a:r>
            <a:r>
              <a:rPr b="0" i="0" lang="en-US" sz="15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logistic regression, Naive Bayes, random forest (500 trees, 5-fold CV).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Split: </a:t>
            </a:r>
            <a:r>
              <a:rPr b="0" i="0" lang="en-US" sz="15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70/30 stratified, seed 2026.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6217920" y="4663440"/>
            <a:ext cx="5486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Weights: </a:t>
            </a:r>
            <a:r>
              <a:rPr b="0" i="0" lang="en-US" sz="15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used for every headline rate, not as model inputs.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Metrics: </a:t>
            </a:r>
            <a:r>
              <a:rPr b="0" i="0" lang="en-US" sz="15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recall, precision, specificity, balanced accuracy, AUC.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Leakage: </a:t>
            </a:r>
            <a:r>
              <a:rPr b="0" i="0" lang="en-US" sz="15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outcome-derived fields removed before training.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Youth, women and rural traditional areas are hit hardest; the model finds 80%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Key findings (weighted, 2024) and model evaluation (test set, n = 51,114)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548640" y="1737360"/>
            <a:ext cx="2697480" cy="1188720"/>
          </a:xfrm>
          <a:prstGeom prst="roundRect">
            <a:avLst>
              <a:gd fmla="val 8000" name="adj"/>
            </a:avLst>
          </a:prstGeom>
          <a:solidFill>
            <a:srgbClr val="EAF1F8"/>
          </a:solidFill>
          <a:ln cap="flat" cmpd="sng" w="15875">
            <a:solidFill>
              <a:srgbClr val="D55E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548640" y="182880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55E00"/>
                </a:solidFill>
                <a:latin typeface="Calibri"/>
                <a:ea typeface="Calibri"/>
                <a:cs typeface="Calibri"/>
                <a:sym typeface="Calibri"/>
              </a:rPr>
              <a:t>45.6%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40080" y="2355494"/>
            <a:ext cx="251460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youth rate vs 23.0% for adults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3383280" y="1737360"/>
            <a:ext cx="2697480" cy="1188720"/>
          </a:xfrm>
          <a:prstGeom prst="roundRect">
            <a:avLst>
              <a:gd fmla="val 8000" name="adj"/>
            </a:avLst>
          </a:prstGeom>
          <a:solidFill>
            <a:srgbClr val="EAF1F8"/>
          </a:solidFill>
          <a:ln cap="flat" cmpd="sng" w="15875">
            <a:solidFill>
              <a:srgbClr val="D55E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383280" y="182880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55E00"/>
                </a:solidFill>
                <a:latin typeface="Calibri"/>
                <a:ea typeface="Calibri"/>
                <a:cs typeface="Calibri"/>
                <a:sym typeface="Calibri"/>
              </a:rPr>
              <a:t>49% | 42%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3474720" y="2355494"/>
            <a:ext cx="251460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young women | young men</a:t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6217920" y="1737360"/>
            <a:ext cx="2697480" cy="1188720"/>
          </a:xfrm>
          <a:prstGeom prst="roundRect">
            <a:avLst>
              <a:gd fmla="val 8000" name="adj"/>
            </a:avLst>
          </a:prstGeom>
          <a:solidFill>
            <a:srgbClr val="EAF1F8"/>
          </a:solidFill>
          <a:ln cap="flat" cmpd="sng" w="15875">
            <a:solidFill>
              <a:srgbClr val="D55E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6217920" y="182880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55E00"/>
                </a:solidFill>
                <a:latin typeface="Calibri"/>
                <a:ea typeface="Calibri"/>
                <a:cs typeface="Calibri"/>
                <a:sym typeface="Calibri"/>
              </a:rPr>
              <a:t>40.0%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6309359" y="2355494"/>
            <a:ext cx="251460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North West, highest province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9052560" y="1737360"/>
            <a:ext cx="2697480" cy="1188720"/>
          </a:xfrm>
          <a:prstGeom prst="roundRect">
            <a:avLst>
              <a:gd fmla="val 8000" name="adj"/>
            </a:avLst>
          </a:prstGeom>
          <a:solidFill>
            <a:srgbClr val="EAF1F8"/>
          </a:solidFill>
          <a:ln cap="flat" cmpd="sng" w="15875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9052560" y="182880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32.6%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9144000" y="2355494"/>
            <a:ext cx="2514600" cy="534924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of the unemployed live in Gauteng</a:t>
            </a:r>
            <a:endParaRPr/>
          </a:p>
        </p:txBody>
      </p:sp>
      <p:graphicFrame>
        <p:nvGraphicFramePr>
          <p:cNvPr id="139" name="Google Shape;139;p18"/>
          <p:cNvGraphicFramePr/>
          <p:nvPr/>
        </p:nvGraphicFramePr>
        <p:xfrm>
          <a:off x="54864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{59401131-9D74-4AC3-A632-C1DFD7F3715B}</a:tableStyleId>
              </a:tblPr>
              <a:tblGrid>
                <a:gridCol w="2103125"/>
                <a:gridCol w="731525"/>
                <a:gridCol w="822950"/>
                <a:gridCol w="1188725"/>
                <a:gridCol w="10058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Spec.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(0.50)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0.759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0.441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0.992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Naive Bayes (0.50)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0.741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0.792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0.302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0.575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(0.50)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0.787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0.061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0.549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0.988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(0.20)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0.787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0.800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0.338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0.636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CEBDD"/>
                    </a:solidFill>
                  </a:tcPr>
                </a:tc>
              </a:tr>
            </a:tbl>
          </a:graphicData>
        </a:graphic>
      </p:graphicFrame>
      <p:pic>
        <p:nvPicPr>
          <p:cNvPr descr="team_thr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3246120"/>
            <a:ext cx="4937760" cy="18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48640" y="5257800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Matches Stats SA within 0.1 point each quarter. At 0.20, 4 in 5 unemployed people are found, but only 1 in 3 flags is correct: a screening aid, not a verdict.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Power BI: one page that answers who, where and when</a:t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Dashboard demonstration</a:t>
            </a:r>
            <a:endParaRPr/>
          </a:p>
        </p:txBody>
      </p:sp>
      <p:pic>
        <p:nvPicPr>
          <p:cNvPr descr="fig_dash1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7589519" cy="425966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8366760" y="1737360"/>
            <a:ext cx="33832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KPIs: </a:t>
            </a: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records, employed, unemployed, others, average age 35.7, youth NEET 42.1%.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Filters: </a:t>
            </a: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province buttons and an age slider update every chart.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Charts: </a:t>
            </a: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status mix, population group, youth by gender, quarterly trend, disengagement by area.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Read with care: </a:t>
            </a: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figures are sample counts; weighted national rate is 32.6% (sample 32.9%).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R/Shiny: score a person or a file, then monitor the model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Deployment demonstration</a:t>
            </a:r>
            <a:endParaRPr/>
          </a:p>
        </p:txBody>
      </p:sp>
      <p:pic>
        <p:nvPicPr>
          <p:cNvPr descr="fig_shiny_scor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5120640" cy="3523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shiny_monitor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48" y="1691652"/>
            <a:ext cx="3379775" cy="410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9340527" y="1737350"/>
            <a:ext cx="24552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Score: </a:t>
            </a: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one person or a CSV; every input validated first.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probability, flag at 0.20, banner: not a determination.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Monitor: </a:t>
            </a: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score drift (PSI), feature drift, missing data, recall, run log.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Tests: </a:t>
            </a: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29-row upload all OK; 500-row log PSI 0.004, recall 0.814.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Recommendations, ethics and limitations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All three members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48640" y="178308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48640" y="2194560"/>
            <a:ext cx="374903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Young people first: 59.5% of the unemployed, young women 49%.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Use rates and headcounts together: North West and Eastern Cape for intensity, Gauteng and KwaZulu-Natal for volume.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Bridge school to work: 66% of the unemployed hold matric.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Screen, then review by hand; expect 2 in 3 flags to be wrong.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4480560" y="1783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Ethics: recall by group</a:t>
            </a:r>
            <a:endParaRPr/>
          </a:p>
        </p:txBody>
      </p:sp>
      <p:graphicFrame>
        <p:nvGraphicFramePr>
          <p:cNvPr id="180" name="Google Shape;180;p21"/>
          <p:cNvGraphicFramePr/>
          <p:nvPr/>
        </p:nvGraphicFramePr>
        <p:xfrm>
          <a:off x="4480560" y="2240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{59401131-9D74-4AC3-A632-C1DFD7F3715B}</a:tableStyleId>
              </a:tblPr>
              <a:tblGrid>
                <a:gridCol w="2194550"/>
                <a:gridCol w="14630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1F4E79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 African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83%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Coloured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62%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Indian/Asian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37%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White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36%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Youth | 35+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91% | 64%</a:t>
                      </a:r>
                      <a:endParaRPr/>
                    </a:p>
                  </a:txBody>
                  <a:tcPr marT="27425" marB="274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21"/>
          <p:cNvSpPr txBox="1"/>
          <p:nvPr/>
        </p:nvSpPr>
        <p:spPr>
          <a:xfrm>
            <a:off x="4480560" y="4434840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Black African 83%, White 36%: a 46-point gap.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Gender gap 0.2 points.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Advisory use only; gaps shown in the app; no thresholds by race.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8321040" y="1783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8321040" y="2194560"/>
            <a:ext cx="3474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One year of data; random split, no future-quarter test.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Associations, not causes.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Formal/informal coding unverified.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Dashboard shows sample counts, no user testing yet.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Quarter used as a predictor.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No login; no automatic retraining.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Conclusion and future work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594360" y="1234440"/>
            <a:ext cx="1097280" cy="54864"/>
          </a:xfrm>
          <a:prstGeom prst="rect">
            <a:avLst/>
          </a:prstGeom>
          <a:solidFill>
            <a:srgbClr val="D55E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Member 3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48640" y="1828800"/>
            <a:ext cx="55778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Who: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young people, women, rural traditional areas.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Where: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highest rates in North West, Eastern Cape, Free State; most people in Gauteng and KwaZulu-Natal.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How we know: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weighted rates match Stats SA within 0.1 point.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Model: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finds 80% of unemployed people at 0.20, with uneven performance across groups, so it is decision support only.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Handover: </a:t>
            </a:r>
            <a:r>
              <a:rPr b="0" i="0" lang="en-US" sz="17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repository, run order, monitoring and retirement rules, ethics report and AI log.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6400800" y="2286000"/>
            <a:ext cx="530352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More QLFS waves; test on a held-out future quarter.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Weighted measures and sorted quarters on the dashboard.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Resolve the formal/informal coding to study sectors.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Group-aware retraining for low-recall groups.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62E"/>
                </a:solidFill>
                <a:latin typeface="Calibri"/>
                <a:ea typeface="Calibri"/>
                <a:cs typeface="Calibri"/>
                <a:sym typeface="Calibri"/>
              </a:rPr>
              <a:t>Usability test with DEL analysts; add login and a plumber API.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48640" y="6446520"/>
            <a:ext cx="9144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55B66"/>
                </a:solidFill>
                <a:latin typeface="Calibri"/>
                <a:ea typeface="Calibri"/>
                <a:cs typeface="Calibri"/>
                <a:sym typeface="Calibri"/>
              </a:rPr>
              <a:t>BIN381 Milestone 4  |  Unemployment and Labour Market Exclusion in South Africa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